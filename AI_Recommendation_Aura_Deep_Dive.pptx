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đầu: mục tiêu của bài không phải kể API nào trả danh sách, mà giải phẫu vì sao một candidate cụ thể nhận điểm, vượt qua bộ lọc và đứng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“Câu hỏi trung tâm: vì sao sản phẩm này được gợi ý?”: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“Kiến trúc triển khai thực tế”: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“Dữ liệu đầu vào: một event không chỉ là một click”: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“Ingestion đáng tin cậy: event đi qua RabbitMQ”: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“Trọng số hành vi: giá trị kinh doanh được mã hóa thành số”: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“Offline refresh: biến lịch sử thành artifacts phục vụ nhanh”: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“Tạo document cho một sản phẩm”: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“Encoder: MiniLM nếu tải được, hashing nếu không”: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“Cosine similarity trong pgvector”: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“Context vector: hệ thống hiểu 'gu hiện tại' như thế nào?”: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“Công thức hybrid trong AI service”: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“Candidate generation: không có một 'model duy nhất'”: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“Feed Home: xu hướng + phiên anonymous + ý định tìm kiếm”: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“Feed Product Detail: 'sản phẩm tương tự' được tạo thế nào?”: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“Feed Cart: cross-sell từ nhiều sản phẩm context”: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“Feed Personalized: pipeline đầy đủ nhất”: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“Search intent: chuyển câu người dùng thành candidate”: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“Co-occurrence: học quan hệ từ giỏ hàng đã mua”: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“Merge scores trong Node: max thắng, nguồn phụ cộng 20%”: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“Bộ lọc và guardrail trước khi hiển thị”: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“Worked example #1: AI chọn candidate nào?”: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“Worked example #2: sau merge, thứ hạng có thể đảo”: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“End-to-end: một sản phẩm đi từ catalog đến vị trí #1”: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“Cache hai tầng: tốc độ mà vẫn có khả năng phục hồi”: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“Cache invalidation: freshness đến từ event”: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“Fault tolerance: AI hỏng thì feed không nhất thiết hỏng”: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“Observability: biết hệ thống nhanh hay chỉ 'có chạy'”: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“Đánh giá chất lượng: offline metric chưa đủ”: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“A/B testing đúng cách”: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“Technical debt nhìn thẳng vào code”: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“Roadmap kỹ thuật: từ heuristic hybrid đến ranking học được”: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“Kịch bản demo kỹ thuật”: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slide “Kết luận: recommendation là một chuỗi quyết định có thể kiểm chứng”: liên hệ trực tiếp với code hiện tại và nhấn mạnh các con số/công thức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199AD"/>
                </a:solidFill>
                <a:latin typeface="Aptos"/>
              </a:rPr>
              <a:t>AURA FASHION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6492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AI Recommendation
Từ tín hiệu hành vi đến một sản phẩm được xếp hạng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5852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Deep dive vào candidate generation, embedding, pgvector, hybrid scoring, merge, exclusion, cache và feedback loop trong chính dự 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1234440" cy="114300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231" y="1435608"/>
            <a:ext cx="10881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>
                <a:solidFill>
                  <a:srgbClr val="2067E2"/>
                </a:solidFill>
                <a:latin typeface="Aptos"/>
              </a:rPr>
              <a:t>384D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1828800"/>
            <a:ext cx="10881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121C2D"/>
                </a:solidFill>
                <a:latin typeface="Aptos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188720"/>
            <a:ext cx="1234440" cy="114300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1435608"/>
            <a:ext cx="10881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>
                <a:solidFill>
                  <a:srgbClr val="1199AD"/>
                </a:solidFill>
                <a:latin typeface="Aptos"/>
              </a:rPr>
              <a:t>0.75 / 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8552" y="1828800"/>
            <a:ext cx="10881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121C2D"/>
                </a:solidFill>
                <a:latin typeface="Aptos"/>
              </a:rPr>
              <a:t>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9" y="1188720"/>
            <a:ext cx="1234440" cy="114300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05872" y="1435608"/>
            <a:ext cx="10881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50" b="1">
                <a:solidFill>
                  <a:srgbClr val="23975D"/>
                </a:solidFill>
                <a:latin typeface="Aptos"/>
              </a:rPr>
              <a:t>4 feeds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872" y="1828800"/>
            <a:ext cx="108813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121C2D"/>
                </a:solidFill>
                <a:latin typeface="Aptos"/>
              </a:rPr>
              <a:t>Serving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Nội dung bám sát: Node.js recommendation repository + FastAPI AI service + MySQL/Redis/RabbitMQ + PostgreSQL/pgvector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199AD"/>
                </a:solidFill>
                <a:latin typeface="Aptos"/>
              </a:rPr>
              <a:t>2026 •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Câu hỏi trung tâm: vì sao sản phẩm này được gợi ý?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Không bắt đầu từ endpoint; bắt đầu từ bằng chứng và phép tính.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356616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31546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 • Bằng chứng người dùng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54679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Người dùng xem váy ren, thêm váy chữ A vào giỏ, tìm “váy trắng dự tiệc”. Mỗi hành vi có trọng số và cửa sổ thời gian khác nhau.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64008" cy="356616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28800"/>
            <a:ext cx="31546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 • Bằng chứng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3154679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Tên, mô tả, danh mục và tags được biến thành vector 384 chiều. Khoảng cách cosine đo mức gần về ngữ nghĩa.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64008" cy="356616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1546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 • Quyết định xếp hạng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67128"/>
            <a:ext cx="3154679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Nhiều nguồn sinh candidate; hệ thống loại sản phẩm đã mua/đang ở giỏ, hợp nhất điểm, sắp xếp và cache kết quả.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623560"/>
            <a:ext cx="5257800" cy="310896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5692140"/>
            <a:ext cx="51846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714BBE"/>
                </a:solidFill>
                <a:latin typeface="Aptos"/>
              </a:rPr>
              <a:t>Output = candidate hợp lệ có bằng chứng mạnh nhất tại placement hiện tại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Kiến trúc triển khai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Hai lớp ranking: orchestration trong Node.js và semantic retrieval trong AI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722119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phát event + yêu cầu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3328" y="225856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9632" y="1828800"/>
            <a:ext cx="1722119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1072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80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RabbitMQ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7648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buffer/retry/DLQ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039" y="225856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6343" y="1828800"/>
            <a:ext cx="1722119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7783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391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Node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359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candidate + rules +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1" y="225856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5" y="1828800"/>
            <a:ext cx="1722119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5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3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FastAPI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embedding + hybrid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3463" y="225856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9767" y="1828800"/>
            <a:ext cx="1722119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1207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3816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pgvector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7784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ANN cosine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0175" y="225856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6479" y="1828800"/>
            <a:ext cx="1722119" cy="1234440"/>
          </a:xfrm>
          <a:prstGeom prst="roundRect">
            <a:avLst/>
          </a:prstGeom>
          <a:solidFill>
            <a:srgbClr val="FF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27919" y="193852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20527" y="193852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Redis/MySQL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4496" y="231343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signals + artifacts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34290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3429000"/>
            <a:ext cx="64008" cy="205740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56616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Online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904487"/>
            <a:ext cx="310896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Redis cache → nếu miss: SQL/Redis candidates → AI hybrid → merge → product cards → cache.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34290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3429000"/>
            <a:ext cx="64008" cy="205740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56616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Near-real-time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904487"/>
            <a:ext cx="310896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Event vào RabbitMQ; consumer ghi MySQL, tăng hot score và invalidates cache liên quan.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342900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3429000"/>
            <a:ext cx="64008" cy="205740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3566160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Offline/periodic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19" y="3904487"/>
            <a:ext cx="310896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Mỗi ~15 phút: co-occurrence từ order_items, train popularity/preferences, embed tối đa 2.000 sản phẩm.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Dữ liệu đầu vào: một event không chỉ là một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Schema RecommendationEvent giữ identity, context, placement và chống trùng.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417320" cy="42976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83080"/>
            <a:ext cx="13075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Trường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691640"/>
            <a:ext cx="4937760" cy="42976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3704" y="1783080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Ý nghĩa kỹ thuật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691640"/>
            <a:ext cx="4160520" cy="42976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1464" y="1783080"/>
            <a:ext cx="4050791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Ví dụ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21408"/>
            <a:ext cx="14173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208276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eventType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121408"/>
            <a:ext cx="49377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03704" y="2208276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tín hiệu implicit/explicit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121408"/>
            <a:ext cx="41605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2208276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VIEW_PRODUCT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551176"/>
            <a:ext cx="14173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2638044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userId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2551176"/>
            <a:ext cx="493776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3704" y="2638044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cá nhân hóa đăng nhập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551176"/>
            <a:ext cx="41605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2638044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user-123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980944"/>
            <a:ext cx="14173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067812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sessionId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2980944"/>
            <a:ext cx="49377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03704" y="3067812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cold-start/anonymous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980944"/>
            <a:ext cx="41605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1464" y="3067812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sess-a9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410712"/>
            <a:ext cx="14173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3497580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productId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3410712"/>
            <a:ext cx="493776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3704" y="3497580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đối tượng hành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3410712"/>
            <a:ext cx="41605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41464" y="3497580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dress-rumy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840479"/>
            <a:ext cx="14173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927347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searchQuery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3840479"/>
            <a:ext cx="49377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03704" y="3927347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ý định bằng ngôn ngữ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840479"/>
            <a:ext cx="41605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1464" y="3927347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váy trắng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270248"/>
            <a:ext cx="14173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4357116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placement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4270248"/>
            <a:ext cx="493776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03704" y="4357116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đo hiệu quả vị trí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4270248"/>
            <a:ext cx="41605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41464" y="4357116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home_recommendations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700016"/>
            <a:ext cx="14173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786884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dedupeKey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48840" y="4700016"/>
            <a:ext cx="493776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03704" y="4786884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idempotency unique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86600" y="4700016"/>
            <a:ext cx="4160520" cy="42976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4786884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view:...:timestamp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129783"/>
            <a:ext cx="14173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" y="5216651"/>
            <a:ext cx="13075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occurredAt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48840" y="5129783"/>
            <a:ext cx="493776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03704" y="5216651"/>
            <a:ext cx="482803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recency window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5129783"/>
            <a:ext cx="4160520" cy="42976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41464" y="5216651"/>
            <a:ext cx="4050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2026-07-12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Ingestion đáng tin cậy: event đi qua RabbitMQ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Tách latency của UI khỏi persistence và feature update.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980590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Publish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21991"/>
            <a:ext cx="1724558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topic exchange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1838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8142" y="1737360"/>
            <a:ext cx="1980590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9582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190" y="184708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Consume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6158" y="2221991"/>
            <a:ext cx="1724558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prefetch =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7020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3324" y="1737360"/>
            <a:ext cx="1980590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4764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7372" y="184708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Persist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2221991"/>
            <a:ext cx="1724558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unique dedupeKey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203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8507" y="1737360"/>
            <a:ext cx="1980590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9947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2555" y="184708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Feature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6523" y="2221991"/>
            <a:ext cx="1724558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Redis ZSET/LIST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7385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3689" y="1737360"/>
            <a:ext cx="1980590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5129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7737" y="184708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Invalidate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1705" y="2221991"/>
            <a:ext cx="1724558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xóa feed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375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337560"/>
            <a:ext cx="64008" cy="205740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Retry 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813048"/>
            <a:ext cx="306324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Retry queue TTL 15 giây; tối đa 3 lần; sau đó dead-letter queue. Message durable và deliveryMode=2.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3375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337560"/>
            <a:ext cx="64008" cy="205740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Idempotency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13048"/>
            <a:ext cx="306324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Duplicate DB key trả accepted=true, duplicated=true: retry không làm hot score/persistence nhân đôi sau insert thành công.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3375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3337560"/>
            <a:ext cx="64008" cy="205740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Realtime freshness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813048"/>
            <a:ext cx="306324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Event mới tăng hot score, lưu 30 sản phẩm gần nhất/user và xóa cache home/cart/personalized liên quan.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Trọng số hành vi: giá trị kinh doanh được mã hóa thành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Các pipeline dùng trọng số hơi khác nhau theo mục tiêu feed.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2011680" cy="50292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19019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1828800" cy="50292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92024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Hot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2011680" cy="50292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1920240"/>
            <a:ext cx="19019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Trending 30d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828800"/>
            <a:ext cx="2286000" cy="50292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1424" y="1920240"/>
            <a:ext cx="2176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Personalized 45d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828800"/>
            <a:ext cx="1828800" cy="50292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92024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AI 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33172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41858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PURCHASE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3317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80944" y="241858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33172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41858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33172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241858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4 × 1.35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33172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241858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3464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292150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ADD_TO_CART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83464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0944" y="292150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283464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9744" y="292150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834640"/>
            <a:ext cx="22860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1424" y="292150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3 × 1.35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283464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292150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33756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342442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FAVORITE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3375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80944" y="342442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33756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9744" y="342442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375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342442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2.5 × 1.35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33375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07424" y="342442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84048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392734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384048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80944" y="392734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84048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392734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3840480"/>
            <a:ext cx="22860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1424" y="392734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 × 1.35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384048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07424" y="392734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434340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" y="443026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REC_CLICK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80" y="43434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80944" y="443026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434340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9744" y="443026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3434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21424" y="443026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0.5 × 1.35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43434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07424" y="443026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484632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9264" y="493318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IMPRESSION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484632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80944" y="493318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0" y="4846320"/>
            <a:ext cx="201168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9744" y="4933188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4846320"/>
            <a:ext cx="22860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21424" y="493318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0.5 × 1.35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4846320"/>
            <a:ext cx="1828800" cy="50292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07424" y="4933188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54406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Ý nghĩa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0" y="5376672"/>
            <a:ext cx="9052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Purchase mạnh hơn view; personalized còn boost 35% tín hiệu thuộc user. Đây là heuristic, chưa phải trọng số được học từ dữ liệu.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Offline refresh: biến lịch sử thành artifacts phục vụ nhanh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Scheduler chạy ngay lúc bootstrap và lặp theo RECOMMENDATION_REFRESH_INTERVAL_MS (mặc định 15 phút).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044598" cy="12801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847088"/>
            <a:ext cx="156911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MySQL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21991"/>
            <a:ext cx="178856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≤ 2.000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96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9270" y="1737360"/>
            <a:ext cx="2044598" cy="128016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071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3318" y="1847088"/>
            <a:ext cx="156911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Recent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7286" y="2221991"/>
            <a:ext cx="178856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≤ 5.000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215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8460" y="1737360"/>
            <a:ext cx="2044598" cy="128016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990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2508" y="1847088"/>
            <a:ext cx="156911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Co-occurrence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6476" y="2221991"/>
            <a:ext cx="178856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self-join order_items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2044598" cy="128016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6911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/train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8856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preferences + popularity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053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6841" y="1737360"/>
            <a:ext cx="2044598" cy="128016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828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0889" y="1847088"/>
            <a:ext cx="156911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/embed/products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4857" y="2221991"/>
            <a:ext cx="178856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upsert pgvector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4290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429000"/>
            <a:ext cx="64008" cy="201168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566160"/>
            <a:ext cx="4892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Co-occurrence artifact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04487"/>
            <a:ext cx="4892040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score(A,B) = số đơn chứa đồng thời A và B. Lưu product_similarities với algorithm='cooccurrence', score, rank, metadata refreshedAt.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42900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429000"/>
            <a:ext cx="64008" cy="201168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566160"/>
            <a:ext cx="4892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Semantic artifact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04487"/>
            <a:ext cx="4892040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document = title + description + category + tags/attributes → normalized embedding 384D → PostgreSQL vector index.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Tạo document cho một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Embedding tốt hay xấu phụ thuộc trực tiếp vào chuỗi đầu vào.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789920" cy="1143000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"Váy ren dáng A Rumy" + "cổ bèo, dự tiệc..." + "Váy nữ" + "color trắng occasion party material lace"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980590" cy="114300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35584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Normalize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30752"/>
            <a:ext cx="1724558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ghép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1838" y="3675887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8142" y="3246120"/>
            <a:ext cx="1980590" cy="114300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9582" y="3355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190" y="335584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Tokenizer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158" y="3730752"/>
            <a:ext cx="1724558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MiniLM hoặc whitespace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7020" y="3675887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3324" y="3246120"/>
            <a:ext cx="1980590" cy="114300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4764" y="3355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7372" y="335584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3730752"/>
            <a:ext cx="1724558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384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203" y="3675887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8507" y="3246120"/>
            <a:ext cx="1980590" cy="114300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9947" y="3355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2555" y="335584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L2 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6523" y="3730752"/>
            <a:ext cx="1724558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||v||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7385" y="3675887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03689" y="3246120"/>
            <a:ext cx="1980590" cy="11430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5129" y="3355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7737" y="3355848"/>
            <a:ext cx="150510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Persist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1705" y="3730752"/>
            <a:ext cx="1724558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vector + 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754880"/>
            <a:ext cx="4846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754880"/>
            <a:ext cx="64008" cy="96012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9204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Điểm mạnh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30368"/>
            <a:ext cx="45262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Tên + mô tả + category + tags giúp semantic retrieval hiểu “váy tiệc” gần “đầm dự sự kiện”.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754880"/>
            <a:ext cx="4846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754880"/>
            <a:ext cx="64008" cy="96012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89204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Giới hạn hiện tại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230368"/>
            <a:ext cx="45262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Variant attributes chi tiết chưa được sync đầy đủ; payload Node chủ yếu đưa tags vào attributes.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Encoder: MiniLM nếu tải được, hashing nếu không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Hệ thống có graceful fallback nhưng chất lượng hai chế độ rất khác nhau.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3291840"/>
          </a:xfrm>
          <a:prstGeom prst="round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329184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4846320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SentenceTransformer encode(text, normalize_embeddings=True). Học semantic từ corpus lớn; từ đồng nghĩa có thể gần nhau dù token khác nhau. Output 384 chiều.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166360" cy="3291840"/>
          </a:xfrm>
          <a:prstGeom prst="roundRect">
            <a:avLst/>
          </a:prstGeom>
          <a:solidFill>
            <a:srgbClr val="FFF2E0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64008" cy="329184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hashing-baseline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12848"/>
            <a:ext cx="4846320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Tách theo whitespace → hash(token) mod 384 → cộng tần suất → L2 normalize. Nhanh và offline, nhưng collision và không hiểu đồng nghĩa/ngữ cảnh.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D3455B"/>
                </a:solidFill>
                <a:latin typeface="Aptos"/>
              </a:rPr>
              <a:t>Rủi ro vận hành: health.model_loaded=false không làm service chết, nhưng ranking semantic có thể giảm mạnh mà người dùng chỉ thấy chất lượng kém.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Cosine similarity trong pgvector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Tìm vector gần context nhất bằng toán tử &lt;=&gt;.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1206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480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2067E2"/>
                </a:solidFill>
                <a:latin typeface="Aptos"/>
              </a:rPr>
              <a:t>cos(q,p) = (q · p) / (||q|| ||p||)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572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121C2D"/>
                </a:solidFill>
                <a:latin typeface="Aptos"/>
              </a:rPr>
              <a:t>Vì vector đã normalize L2:
cos(q,p) ≈ q · p
SQL score = 1 − (embedding &lt;=&gt; query_vector)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074920" cy="960120"/>
          </a:xfrm>
          <a:prstGeom prst="round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64008" cy="96012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0.92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47548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Rất gần về nội dung/ngữ nghĩa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52928"/>
            <a:ext cx="5074920" cy="960120"/>
          </a:xfrm>
          <a:prstGeom prst="roundRect">
            <a:avLst/>
          </a:prstGeom>
          <a:solidFill>
            <a:srgbClr val="FFF2E0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852928"/>
            <a:ext cx="64008" cy="96012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90088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0.65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28416"/>
            <a:ext cx="47548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Có một phần thuộc tính/danh mục chung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14215"/>
            <a:ext cx="5074920" cy="960120"/>
          </a:xfrm>
          <a:prstGeom prst="roundRect">
            <a:avLst/>
          </a:prstGeom>
          <a:solidFill>
            <a:srgbClr val="FFE9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14215"/>
            <a:ext cx="64008" cy="96012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51376"/>
            <a:ext cx="4754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89704"/>
            <a:ext cx="47548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Hầu như không liên quan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5623560"/>
            <a:ext cx="5943600" cy="310896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5536" y="5692140"/>
            <a:ext cx="5870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714BBE"/>
                </a:solidFill>
                <a:latin typeface="Aptos"/>
              </a:rPr>
              <a:t>IVFFlat + vector_cosine_ops: giảm phạm vi tìm kiếm so với full scan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Context vector: hệ thống hiểu 'gu hiện tại' như thế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Không embed user trực tiếp trong request; lấy trung bình vector các sản phẩm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Recent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top 10 / 45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Context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view/cart/fav/buy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Product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v₁...vₙ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Mean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q = mean(vᵢ)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Normalize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q / ||q||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429000"/>
            <a:ext cx="10104120" cy="960120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730752"/>
            <a:ext cx="9738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q_user = normalize((v_váy-ren + v_váy-chữ-A + v_áo-cổ-bèo) /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709160"/>
            <a:ext cx="9966960" cy="1097280"/>
          </a:xfrm>
          <a:prstGeom prst="rect">
            <a:avLst/>
          </a:prstGeom>
          <a:noFill/>
        </p:spPr>
        <p:txBody>
          <a:bodyPr wrap="square" lIns="73152" rIns="27432" tIns="27432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21C2D"/>
                </a:solidFill>
                <a:latin typeface="Aptos"/>
              </a:defRPr>
            </a:pPr>
            <a:r>
              <a:t>• Nếu user đăng nhập: AI còn nối tối đa 8 sản phẩm preference phổ biến vào context.</a:t>
            </a:r>
          </a:p>
          <a:p>
            <a:pPr>
              <a:spcAft>
                <a:spcPts val="700"/>
              </a:spcAft>
              <a:defRPr sz="1050">
                <a:solidFill>
                  <a:srgbClr val="121C2D"/>
                </a:solidFill>
                <a:latin typeface="Aptos"/>
              </a:defRPr>
            </a:pPr>
            <a:r>
              <a:t>• user_profile tuổi/chiều cao/cân nặng được gửi sang AI nhưng hiện chưa tham gia công thức recommend().</a:t>
            </a:r>
          </a:p>
          <a:p>
            <a:pPr>
              <a:spcAft>
                <a:spcPts val="700"/>
              </a:spcAft>
              <a:defRPr sz="1050">
                <a:solidFill>
                  <a:srgbClr val="121C2D"/>
                </a:solidFill>
                <a:latin typeface="Aptos"/>
              </a:defRPr>
            </a:pPr>
            <a:r>
              <a:t>• Nếu không có context vector: AI vector_hits rỗng, chỉ còn popularity fallback.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Công thức hybrid trong AI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Semantic relevance chiếm 75%; demand evidence chiếm 25%.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101498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final_AI(p) = 0.75 × cosine(q,p) + 0.25 × log(1 + popularity(p))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63240"/>
            <a:ext cx="27432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154680"/>
            <a:ext cx="2633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063240"/>
            <a:ext cx="155448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3154680"/>
            <a:ext cx="14447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Cosine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3063240"/>
            <a:ext cx="18288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315468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Raw popularity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063240"/>
            <a:ext cx="18288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315468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log1p(pop)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063240"/>
            <a:ext cx="18288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4544" y="315468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Final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593592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680460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Đầm dự tiệc 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59359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2463" y="3680460"/>
            <a:ext cx="1444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359359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3680460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59359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3680460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1.609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59359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24544" y="3680460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1.085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23944"/>
            <a:ext cx="27432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4210812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Váy basic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123944"/>
            <a:ext cx="155448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12463" y="4210812"/>
            <a:ext cx="1444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0.72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4123944"/>
            <a:ext cx="18288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4210812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23944"/>
            <a:ext cx="18288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5744" y="4210812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3.045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4123944"/>
            <a:ext cx="18288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4210812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1.301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654296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741164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Áo ren 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654296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12463" y="4741164"/>
            <a:ext cx="1444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0.83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65429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4" y="4741164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465429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95744" y="4741164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0.693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465429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741164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0.796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440680"/>
            <a:ext cx="1463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Kết luận ví dụ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358384"/>
            <a:ext cx="8778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C vượt B dù semantic thấp hơn, vì popularity chưa được normalize và log1p có thể &gt; 1. Đây là chủ đề calibration quan trọng.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Candidate generation: không có một 'model duy nhất'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Mỗi nguồn trả productId + score + reason +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64008" cy="118872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semantic/content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2152" y="1691640"/>
            <a:ext cx="64008" cy="118872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82880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co-occurrence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16712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mua cùng đơn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1691640"/>
            <a:ext cx="64008" cy="118872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82880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hot ZSET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16712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real-time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69164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4856" y="1691640"/>
            <a:ext cx="64008" cy="118872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182880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trending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16712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30-day behavior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1546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154680"/>
            <a:ext cx="64008" cy="118872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29184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search intent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63016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query 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1546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2152" y="3154680"/>
            <a:ext cx="64008" cy="118872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29184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category/type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5032" y="363016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business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18504" y="31546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8504" y="3154680"/>
            <a:ext cx="64008" cy="118872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329184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recent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363016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personal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34856" y="315468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34856" y="3154680"/>
            <a:ext cx="64008" cy="118872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3291840"/>
            <a:ext cx="22402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latest/sale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3630168"/>
            <a:ext cx="22402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cold-start fallback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4983480"/>
            <a:ext cx="8138160" cy="64008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5193792"/>
            <a:ext cx="7680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714BBE"/>
                </a:solidFill>
                <a:latin typeface="Aptos"/>
              </a:rPr>
              <a:t>Candidate generation ưu tiên recall: lấy limit × 2/3/4 rồi mới merge, exclude và cắt top-K.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Feed Home: xu hướng + phiên anonymous + ý định tìm kiếm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Mục tiêu là relevance tức thời ngay cả khi chưa đăng nhập.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017166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Hot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realtime weighted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6974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3278" y="1737360"/>
            <a:ext cx="2017166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4718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7326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Trending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1294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30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8732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5036" y="1737360"/>
            <a:ext cx="2017166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6476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9084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Search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30 ngày/session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0491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6795" y="1737360"/>
            <a:ext cx="2017166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8235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0843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Session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4811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14 ngày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2249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8553" y="1737360"/>
            <a:ext cx="2017166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9993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2601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Merge max+20%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6569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top limit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3337560"/>
            <a:ext cx="3017520" cy="43891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3429000"/>
            <a:ext cx="2907791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Session event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3337560"/>
            <a:ext cx="1828800" cy="43891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2503" y="342900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Weight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3776472"/>
            <a:ext cx="3017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3863339"/>
            <a:ext cx="2907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ADD_TO_CART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39" y="377647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2503" y="3863339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4215383"/>
            <a:ext cx="301752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" y="4302251"/>
            <a:ext cx="2907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FAVORITE_PRODUCT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4215383"/>
            <a:ext cx="182880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3" y="4302251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2.5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4654296"/>
            <a:ext cx="30175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" y="4741164"/>
            <a:ext cx="2907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VIEW_PRODUCT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77639" y="465429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32503" y="4741164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" y="5093208"/>
            <a:ext cx="301752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5180076"/>
            <a:ext cx="2907791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khác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5093208"/>
            <a:ext cx="182880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3" y="5180076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0.5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337560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337560"/>
            <a:ext cx="64008" cy="205740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474720"/>
            <a:ext cx="4617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Cache &amp; fallback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813048"/>
            <a:ext cx="4617720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Cache theo session + limit, TTL 900s. Nếu không có context: sản phẩm có ảnh, ưu tiên isSale rồi createdAt mới nhất.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Feed Product Detail: 'sản phẩm tương tự' được tạo thế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Context là đúng một product đang xem; output luôn loại chính product đó.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Current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context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limit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Co-occurrence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limit ×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Category/type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limit ×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Merge + exclude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top 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33756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337560"/>
            <a:ext cx="64008" cy="201168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47472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Semantic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813048"/>
            <a:ext cx="2926079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Hai sản phẩm có mô tả/thuộc tính gần nhau dù chưa từng được mua cùng.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333756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3337560"/>
            <a:ext cx="64008" cy="201168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347472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Behavioral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3813048"/>
            <a:ext cx="2926079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Hai sản phẩm xuất hiện trong cùng đơn: bằng chứng người mua thực tế.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33756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3337560"/>
            <a:ext cx="64008" cy="201168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47472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813048"/>
            <a:ext cx="2926079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Cùng category, parent/children hoặc productType; ưu tiên sale và mới cập nhật.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Feed Cart: cross-sell từ nhiều sản phẩm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Không gợi ý lại bất kỳ product nào đang nằm trong giỏ.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Cart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excluded +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mean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limit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Related 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co-occurrence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Category family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parent/child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uniqueTop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top 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3383280"/>
            <a:ext cx="10424160" cy="1051560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3657600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Ví dụ: giỏ = {váy ren, túi trắng} → context mean mang cả occasion + style → candidate giày cao gót có thể gần cả hai.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800600"/>
            <a:ext cx="9875520" cy="914400"/>
          </a:xfrm>
          <a:prstGeom prst="rect">
            <a:avLst/>
          </a:prstGeom>
          <a:noFill/>
        </p:spPr>
        <p:txBody>
          <a:bodyPr wrap="square" lIns="73152" rIns="27432" tIns="27432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21C2D"/>
                </a:solidFill>
                <a:latin typeface="Aptos"/>
              </a:defRPr>
            </a:pPr>
            <a:r>
              <a:t>• AI reason: “phù hợp với các sản phẩm trong giỏ”.</a:t>
            </a:r>
          </a:p>
          <a:p>
            <a:pPr>
              <a:spcAft>
                <a:spcPts val="700"/>
              </a:spcAft>
              <a:defRPr sz="1100">
                <a:solidFill>
                  <a:srgbClr val="121C2D"/>
                </a:solidFill>
                <a:latin typeface="Aptos"/>
              </a:defRPr>
            </a:pPr>
            <a:r>
              <a:t>• Co-occurrence cung cấp cross-sell dựa trên đơn thật.</a:t>
            </a:r>
          </a:p>
          <a:p>
            <a:pPr>
              <a:spcAft>
                <a:spcPts val="700"/>
              </a:spcAft>
              <a:defRPr sz="1100">
                <a:solidFill>
                  <a:srgbClr val="121C2D"/>
                </a:solidFill>
                <a:latin typeface="Aptos"/>
              </a:defRPr>
            </a:pPr>
            <a:r>
              <a:t>• TTL 600 giây; ADD/REMOVE event invalidates cart cache.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Feed Personalized: pipeline đầy đủ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Kết hợp behavior 45 ngày, search intent, AI, co-occurrence và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053742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1755648"/>
            <a:ext cx="157825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Score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30552"/>
            <a:ext cx="179771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PURCHASE 4...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110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8414" y="1645920"/>
            <a:ext cx="2053742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9854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2462" y="1755648"/>
            <a:ext cx="157825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Exclude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130552"/>
            <a:ext cx="179771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context+cart+90d bought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0444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6748" y="1645920"/>
            <a:ext cx="2053742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8188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0796" y="1755648"/>
            <a:ext cx="157825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4764" y="2130552"/>
            <a:ext cx="179771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limit ×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8779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5083" y="1645920"/>
            <a:ext cx="2053742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6523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9131" y="1755648"/>
            <a:ext cx="157825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Other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3099" y="2130552"/>
            <a:ext cx="179771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search/related/category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7113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13417" y="1645920"/>
            <a:ext cx="2053742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4857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7465" y="1755648"/>
            <a:ext cx="157825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1433" y="2130552"/>
            <a:ext cx="179771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latest if short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2004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200400"/>
            <a:ext cx="64008" cy="214884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337560"/>
            <a:ext cx="4800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Own signals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675887"/>
            <a:ext cx="480060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30" b="0">
                <a:solidFill>
                  <a:srgbClr val="121C2D"/>
                </a:solidFill>
                <a:latin typeface="Aptos"/>
              </a:rPr>
              <a:t>recent event score × 1.2 được đưa lại làm candidate, nhưng contextIds đồng thời nằm trong exclusion nên thực tế các own candidates này thường bị loại ở uniqueTop.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200400"/>
            <a:ext cx="51206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64008" cy="214884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337560"/>
            <a:ext cx="4800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Exclusion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675887"/>
            <a:ext cx="4800600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30" b="0">
                <a:solidFill>
                  <a:srgbClr val="121C2D"/>
                </a:solidFill>
                <a:latin typeface="Aptos"/>
              </a:rPr>
              <a:t>Không gợi lại sản phẩm context, sản phẩm đang trong cart và mọi sản phẩm đã mua trong 90 ngày—giảm lặp nhưng có thể bỏ lỡ replenishment.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Search intent: chuyển câu người dùng thành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Hiện dùng lexical SQL LIKE, chưa embed 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Collect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30 ngày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Rank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count + recency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LIKE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name/description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Rank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term &amp; product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uniqueTop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candidate 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337560"/>
            <a:ext cx="10561320" cy="10058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3639312"/>
            <a:ext cx="10104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199AD"/>
                </a:solidFill>
                <a:latin typeface="Aptos"/>
              </a:rPr>
              <a:t>score = max(0.5, query_count × 3 − termIndex × 0.75 − productIndex × 0.25)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7091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709160"/>
            <a:ext cx="64008" cy="91440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4632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Tốt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184648"/>
            <a:ext cx="4526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Phản ứng nhanh với “váy trắng”, dễ giải thích.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7091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709160"/>
            <a:ext cx="64008" cy="91440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84632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Chưa tốt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184648"/>
            <a:ext cx="45262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Không hiểu synonym/typo; query score có thang khác cosine.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Co-occurrence: học quan hệ từ giỏ hàng đã mua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Một dạng item-item collaborative signal đơn giản, minh bạch.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292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714BBE"/>
                </a:solidFill>
                <a:latin typeface="Aptos"/>
              </a:rPr>
              <a:t>SQL self-join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4805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1C2D"/>
                </a:solidFill>
                <a:latin typeface="Courier New"/>
              </a:rPr>
              <a:t>order_items oi1
JOIN order_items oi2
  ON same order_id
 AND product_id khác nhau
score(A,B) = COUNT(*)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5166360" cy="960120"/>
          </a:xfrm>
          <a:prstGeom prst="roundRect">
            <a:avLst/>
          </a:prstGeom>
          <a:solidFill>
            <a:srgbClr val="F1EB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64008" cy="96012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A + B cùng 12 đơn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67128"/>
            <a:ext cx="48463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score(A,B)=12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880360"/>
            <a:ext cx="5166360" cy="960120"/>
          </a:xfrm>
          <a:prstGeom prst="round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880360"/>
            <a:ext cx="64008" cy="96012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A + C cùng 4 đơn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55848"/>
            <a:ext cx="48463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score(A,C)=4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166360" cy="960120"/>
          </a:xfrm>
          <a:prstGeom prst="roundRect">
            <a:avLst/>
          </a:prstGeom>
          <a:solidFill>
            <a:srgbClr val="FFE9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64008" cy="96012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4846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Vấn đề popularity 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44568"/>
            <a:ext cx="48463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121C2D"/>
                </a:solidFill>
                <a:latin typeface="Aptos"/>
              </a:rPr>
              <a:t>Không normalize theo độ phổ biến A/B; bestseller dễ liên quan với mọi thứ.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Merge scores trong Node: max thắng, nguồn phụ cộng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Đây là bước cuối quyết định candidate nào đứng trên candidate nào.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92807"/>
            <a:ext cx="10149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Nếu product xuất hiện nhiều lần: giữ source có score lớn nhất; mỗi score nhỏ hơn đến sau cộng thêm 0.2 × score đó.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26080"/>
            <a:ext cx="18288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926080"/>
            <a:ext cx="164592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3017520"/>
            <a:ext cx="1536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pgvector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926080"/>
            <a:ext cx="164592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3017520"/>
            <a:ext cx="1536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cooccur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926080"/>
            <a:ext cx="164592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3017520"/>
            <a:ext cx="1536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926080"/>
            <a:ext cx="36576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3017520"/>
            <a:ext cx="35478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Kết quả merge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5643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543300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456432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6624" y="3543300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1.085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456432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3543300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0.80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456432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8464" y="3543300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456432"/>
            <a:ext cx="3657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4384" y="3543300"/>
            <a:ext cx="3547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1.085 + .2×.80 = 1.245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986784"/>
            <a:ext cx="18288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073652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21C2D"/>
                </a:solidFill>
                <a:latin typeface="Aptos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986784"/>
            <a:ext cx="164592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4073652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21C2D"/>
                </a:solidFill>
                <a:latin typeface="Aptos"/>
              </a:rPr>
              <a:t>1.301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986784"/>
            <a:ext cx="164592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4073652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21C2D"/>
                </a:solidFill>
                <a:latin typeface="Aptos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986784"/>
            <a:ext cx="164592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4073652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21C2D"/>
                </a:solidFill>
                <a:latin typeface="Aptos"/>
              </a:rPr>
              <a:t>8.0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986784"/>
            <a:ext cx="3657600" cy="530352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44384" y="4073652"/>
            <a:ext cx="3547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121C2D"/>
                </a:solidFill>
                <a:latin typeface="Aptos"/>
              </a:rPr>
              <a:t>8.0 + .2×1.301 = 8.260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51713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4604003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4517136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6624" y="4604003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0.796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517136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52544" y="4604003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1.20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517136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98464" y="4604003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7.0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4517136"/>
            <a:ext cx="3657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44384" y="4604003"/>
            <a:ext cx="3547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7.0 + .2×1.2 + .2×.796 = 7.399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25780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Technical debt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5166360"/>
            <a:ext cx="8961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1C2D"/>
                </a:solidFill>
                <a:latin typeface="Aptos"/>
              </a:rPr>
              <a:t>Score cosine (~0–1), co-occurrence (count), fallback rank (limit…1), search (count×3) không cùng thang; category fallback có thể lấn át 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Bộ lọc và guardrail trước khi hiển thị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Ranking tốt nhưng candidate không hợp lệ vẫn phải bị loại.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64008" cy="128016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không gợi lại item đang xem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37360"/>
            <a:ext cx="64008" cy="128016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128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không gợi item trong giỏ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64008" cy="128016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Purchased 90d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128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giảm lặp personalized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375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337560"/>
            <a:ext cx="64008" cy="128016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Soft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product isDeleted=false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3375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337560"/>
            <a:ext cx="64008" cy="128016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Card lookup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8130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missing product bị drop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375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337560"/>
            <a:ext cx="64008" cy="128016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47472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Unique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13048"/>
            <a:ext cx="3063240" cy="7132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21C2D"/>
                </a:solidFill>
                <a:latin typeface="Aptos"/>
              </a:rPr>
              <a:t>mỗi product một lần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5074920"/>
            <a:ext cx="8321040" cy="594360"/>
          </a:xfrm>
          <a:prstGeom prst="roundRect">
            <a:avLst/>
          </a:prstGeom>
          <a:solidFill>
            <a:srgbClr val="FF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5285232"/>
            <a:ext cx="7863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D3455B"/>
                </a:solidFill>
                <a:latin typeface="Aptos"/>
              </a:rPr>
              <a:t>Khoảng trống hiện tại: getProductCards chưa lọc Product.status ACTIVE, variant stock/status hay stockAvailable &gt; 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Worked example #1: AI chọn candidate nào?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Context: user vừa xem váy ren trắng và váy chữ A; candidate là B/C/D.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28600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920240"/>
            <a:ext cx="2176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123444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920240"/>
            <a:ext cx="11247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Cosine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828800"/>
            <a:ext cx="123444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8224" y="1920240"/>
            <a:ext cx="11247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Events pop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828800"/>
            <a:ext cx="123444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20240"/>
            <a:ext cx="11247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log1p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137160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3" y="1920240"/>
            <a:ext cx="12618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0.75×cos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828800"/>
            <a:ext cx="137160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920240"/>
            <a:ext cx="12618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0.25×log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1371600" cy="56692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920240"/>
            <a:ext cx="12618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AI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95728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482596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B Đầm dự tiệc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239572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3784" y="2482596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39572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8224" y="2482596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39572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2664" y="2482596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1.609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395728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2482596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0.683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395728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2482596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0.402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395728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2482596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1.085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962656"/>
            <a:ext cx="228600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3049524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C Váy basic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2962656"/>
            <a:ext cx="123444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3049524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0.72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962656"/>
            <a:ext cx="123444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78224" y="3049524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2962656"/>
            <a:ext cx="123444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12664" y="3049524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3.045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962656"/>
            <a:ext cx="137160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47103" y="3049524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0.540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2962656"/>
            <a:ext cx="137160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3049524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0.761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2962656"/>
            <a:ext cx="1371600" cy="566928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3049524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1">
                <a:solidFill>
                  <a:srgbClr val="121C2D"/>
                </a:solidFill>
                <a:latin typeface="Aptos"/>
              </a:rPr>
              <a:t>1.301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529584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3616452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D Áo 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352958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3784" y="3616452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352958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78224" y="3616452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52958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12664" y="3616452"/>
            <a:ext cx="11247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0.693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529584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3" y="3616452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0.623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3529584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18704" y="3616452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0.173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3529584"/>
            <a:ext cx="1371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0304" y="3616452"/>
            <a:ext cx="12618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30" b="0">
                <a:solidFill>
                  <a:srgbClr val="121C2D"/>
                </a:solidFill>
                <a:latin typeface="Aptos"/>
              </a:rPr>
              <a:t>0.796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434840"/>
            <a:ext cx="3337560" cy="1005840"/>
          </a:xfrm>
          <a:prstGeom prst="roundRect">
            <a:avLst/>
          </a:prstGeom>
          <a:solidFill>
            <a:srgbClr val="FFF2E0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4434840"/>
            <a:ext cx="64008" cy="100584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4572000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#1 C • 1.301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4910327"/>
            <a:ext cx="3017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Demand thắng semantic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34840" y="4434840"/>
            <a:ext cx="3337560" cy="1005840"/>
          </a:xfrm>
          <a:prstGeom prst="round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34840" y="4434840"/>
            <a:ext cx="64008" cy="100584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4572000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#2 B • 1.085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4910327"/>
            <a:ext cx="3017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Semantic cao nhất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0" y="4434840"/>
            <a:ext cx="3337560" cy="1005840"/>
          </a:xfrm>
          <a:prstGeom prst="roundRect">
            <a:avLst/>
          </a:prstGeom>
          <a:solidFill>
            <a:srgbClr val="E2F7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38160" y="4434840"/>
            <a:ext cx="64008" cy="100584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21040" y="4572000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#3 D • 0.796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4910327"/>
            <a:ext cx="3017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21C2D"/>
                </a:solidFill>
                <a:latin typeface="Aptos"/>
              </a:rPr>
              <a:t>Ít popularity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714BBE"/>
                </a:solidFill>
                <a:latin typeface="Aptos"/>
              </a:rPr>
              <a:t>Nếu business muốn semantic chi phối thật sự, popularity cần normalize (min-max/percentile) trước khi nhân 0.25.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Worked example #2: sau merge, thứ hạng có thể đảo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AI score không phải final score của Node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2286000" cy="603504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2176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28800"/>
            <a:ext cx="2743200" cy="603504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5264" y="1920240"/>
            <a:ext cx="2633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Nguồn mạnh nhất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2834640" cy="603504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1920240"/>
            <a:ext cx="27249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Nguồn phụ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1645920" cy="603504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3104" y="1920240"/>
            <a:ext cx="1536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Final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828800"/>
            <a:ext cx="1097280" cy="603504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9024" y="1920240"/>
            <a:ext cx="9875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432304"/>
            <a:ext cx="2286000" cy="603504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519172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C Váy basic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432304"/>
            <a:ext cx="2743200" cy="603504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5264" y="2519172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category=8.0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432304"/>
            <a:ext cx="2834640" cy="603504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8464" y="2519172"/>
            <a:ext cx="2724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AI=1.301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2432304"/>
            <a:ext cx="1645920" cy="603504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3104" y="2519172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8.260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432304"/>
            <a:ext cx="1097280" cy="603504"/>
          </a:xfrm>
          <a:prstGeom prst="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79024" y="2519172"/>
            <a:ext cx="987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1C2D"/>
                </a:solidFill>
                <a:latin typeface="Aptos"/>
              </a:rPr>
              <a:t>#1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035808"/>
            <a:ext cx="2286000" cy="603504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3122676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D Áo 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035808"/>
            <a:ext cx="2743200" cy="603504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5264" y="3122676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category=7.0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035808"/>
            <a:ext cx="2834640" cy="603504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122676"/>
            <a:ext cx="2724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co=1.2; AI=.796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035808"/>
            <a:ext cx="1645920" cy="603504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33104" y="3122676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7.399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3035808"/>
            <a:ext cx="1097280" cy="603504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9024" y="3122676"/>
            <a:ext cx="987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#2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639312"/>
            <a:ext cx="22860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3726180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B Đầm tiệc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39312"/>
            <a:ext cx="2743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5264" y="3726180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AI=1.085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639312"/>
            <a:ext cx="28346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98464" y="3726180"/>
            <a:ext cx="2724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co=.80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3639312"/>
            <a:ext cx="16459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33104" y="3726180"/>
            <a:ext cx="1536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1.245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639312"/>
            <a:ext cx="10972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79024" y="3726180"/>
            <a:ext cx="987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#3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4389120"/>
            <a:ext cx="2345436" cy="10058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4440" y="4498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7048" y="4498848"/>
            <a:ext cx="18699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Semantic winner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71016" y="4873752"/>
            <a:ext cx="208940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B: cosine .91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6724" y="48188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3028" y="4389120"/>
            <a:ext cx="2345436" cy="10058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4468" y="4498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37076" y="4498848"/>
            <a:ext cx="18699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winner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4873752"/>
            <a:ext cx="208940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C: score 1.301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16752" y="48188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3056" y="4389120"/>
            <a:ext cx="2345436" cy="10058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54496" y="4498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47104" y="4498848"/>
            <a:ext cx="18699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Node winner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4873752"/>
            <a:ext cx="208940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C: category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6780" y="48188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73084" y="4389120"/>
            <a:ext cx="2345436" cy="10058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64524" y="44988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7132" y="4498848"/>
            <a:ext cx="18699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Displayed #1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01100" y="4873752"/>
            <a:ext cx="208940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 after exclude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0" y="57150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Thông điệp bảo vệ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5623560"/>
            <a:ext cx="6217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1C2D"/>
                </a:solidFill>
                <a:latin typeface="Aptos"/>
              </a:rPr>
              <a:t>“AI retrieval tạo candidate tốt; orchestration + heuristic calibration mới quyết định sản phẩm cuối cùng.”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End-to-end: một sản phẩm đi từ catalog đến vị trí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Chuỗi quyết định đầy đủ, không bỏ qua tầng dữ liệu hay serving.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1722119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Catalog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title/desc/category/tags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3328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9632" y="1645920"/>
            <a:ext cx="1722119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1072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3680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7648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MiniLM 384D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039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6343" y="1645920"/>
            <a:ext cx="1722119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7783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391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User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4359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mean recent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1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5" y="1645920"/>
            <a:ext cx="1722119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5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3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1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cosine top 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3463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9767" y="1645920"/>
            <a:ext cx="1722119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1207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3816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Hybrid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7784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.75 semantic+.25 pop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0175" y="207568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36479" y="1645920"/>
            <a:ext cx="1722119" cy="1234440"/>
          </a:xfrm>
          <a:prstGeom prst="roundRect">
            <a:avLst/>
          </a:prstGeom>
          <a:solidFill>
            <a:srgbClr val="FF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27919" y="175564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20527" y="1755648"/>
            <a:ext cx="1246631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Merge/filter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4496" y="2130552"/>
            <a:ext cx="1466087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multi-source top 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429000"/>
            <a:ext cx="64008" cy="132588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Bước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C được cosine=.72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42032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42032" y="3429000"/>
            <a:ext cx="64008" cy="132588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Bước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4912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pop=20 → log=3.045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43984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43984" y="3429000"/>
            <a:ext cx="64008" cy="132588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6864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Bước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AI=1.301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45936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45936" y="3429000"/>
            <a:ext cx="64008" cy="132588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28816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Bước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8816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category rank=8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47888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47888" y="3429000"/>
            <a:ext cx="64008" cy="132588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0767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Bước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767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merge=8.260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0" y="3429000"/>
            <a:ext cx="1691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49840" y="3429000"/>
            <a:ext cx="64008" cy="132588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32719" y="35661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Bước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19" y="3904487"/>
            <a:ext cx="13716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121C2D"/>
                </a:solidFill>
                <a:latin typeface="Aptos"/>
              </a:rPr>
              <a:t>không bị exclude → #1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5257800"/>
            <a:ext cx="8503920" cy="566928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5449824"/>
            <a:ext cx="8046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Sản phẩm được gợi ý không vì “API trả về”, mà vì sống sót qua 6 phép biến đổi và guardrail.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Cache hai tầng: tốc độ mà vẫn có khả năng phục hồi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Redis là fast path; MySQL RecommendationCache là durable fallback.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017166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cache key by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6974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3278" y="1737360"/>
            <a:ext cx="2017166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4718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7326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Redis HIT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1294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return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8732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5036" y="1737360"/>
            <a:ext cx="2017166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6476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9084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Redis MISS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DB cache lookup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0491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6795" y="1737360"/>
            <a:ext cx="2017166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8235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0843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DB HIT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4811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warm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2249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8553" y="1737360"/>
            <a:ext cx="2017166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9993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2601" y="1847088"/>
            <a:ext cx="154167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Full 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6569" y="2221991"/>
            <a:ext cx="1761134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generate + persist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3429000"/>
            <a:ext cx="2011680" cy="43891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3520440"/>
            <a:ext cx="19019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Feed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3429000"/>
            <a:ext cx="6217920" cy="43891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9544" y="3520440"/>
            <a:ext cx="610819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Cache 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3429000"/>
            <a:ext cx="1463040" cy="43891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3520440"/>
            <a:ext cx="135331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TTL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3867912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7864" y="3954780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Home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3867912"/>
            <a:ext cx="6217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9544" y="3954780"/>
            <a:ext cx="6108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home:v2:{session}:{limit}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72600" y="3867912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7464" y="3954780"/>
            <a:ext cx="1353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900s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4306824"/>
            <a:ext cx="201168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97864" y="4393692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Product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4306824"/>
            <a:ext cx="621792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9544" y="4393692"/>
            <a:ext cx="6108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product:{product}:{limit}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72600" y="4306824"/>
            <a:ext cx="146304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27464" y="4393692"/>
            <a:ext cx="1353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1800s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4745736"/>
            <a:ext cx="2011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7864" y="4832603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Cart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4745736"/>
            <a:ext cx="6217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9544" y="4832603"/>
            <a:ext cx="6108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cart:{user}:{limit}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4745736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27464" y="4832603"/>
            <a:ext cx="1353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600s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5184648"/>
            <a:ext cx="201168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97864" y="5271516"/>
            <a:ext cx="19019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Personalized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5184648"/>
            <a:ext cx="621792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9544" y="5271516"/>
            <a:ext cx="61081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personalized:v4:{user}:{session}:{limit}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72600" y="5184648"/>
            <a:ext cx="1463040" cy="43891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27464" y="5271516"/>
            <a:ext cx="1353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900s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Cache invalidation: freshness đến từ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Không chờ TTL nếu hành vi vừa thay đổi.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2286000" cy="64008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920240"/>
            <a:ext cx="2176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Event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7955279" cy="640080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920240"/>
            <a:ext cx="78455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Patterns bị xóa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6888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55574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sessionId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68880"/>
            <a:ext cx="7955279" cy="640080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2555748"/>
            <a:ext cx="7845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home:{session}:*, home:v2:{session}:*, personalized:*:{session}:*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108960"/>
            <a:ext cx="2286000" cy="64008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195828"/>
            <a:ext cx="2176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userId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108960"/>
            <a:ext cx="7955279" cy="640080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3195828"/>
            <a:ext cx="7845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121C2D"/>
                </a:solidFill>
                <a:latin typeface="Aptos"/>
              </a:rPr>
              <a:t>cart:{user}:*, personalized v1/v2/v3/v4 của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57600"/>
            <a:ext cx="64008" cy="150876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9476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Ưu điểm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33087"/>
            <a:ext cx="4526280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ADD_TO_CART làm feed cart/personalized thay đổi ngay ở request kế tiếp.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57600"/>
            <a:ext cx="48463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64008" cy="150876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794760"/>
            <a:ext cx="4526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Rủi 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33087"/>
            <a:ext cx="4526280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Dùng Redis KEYS(pattern) có thể block khi keyspace lớn; production nên chuyển SCAN hoặc versioned keys.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Fault tolerance: AI hỏng thì feed không nhất thiết hỏng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Node repository bắt exception và tiếp tục bằng co-occurrence/category/catalog.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AI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/recommend/hybrid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Timeout/5xx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throw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increment fallback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Return 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no AI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Fallback 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still produce feed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3832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383280"/>
            <a:ext cx="64008" cy="182880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52044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858768"/>
            <a:ext cx="29260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AI service failure không làm endpoint recommendation 500 nếu các nguồn khác còn dữ liệu.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33832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3383280"/>
            <a:ext cx="64008" cy="182880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352044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Consistency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3858768"/>
            <a:ext cx="29260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RabbitMQ retry/DLQ giữ event ingestion; DB cache cứu khi Redis mất cache.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3832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3383280"/>
            <a:ext cx="64008" cy="1828800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520440"/>
            <a:ext cx="29260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Blind spot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858768"/>
            <a:ext cx="29260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21C2D"/>
                </a:solidFill>
                <a:latin typeface="Aptos"/>
              </a:rPr>
              <a:t>fetch AI chưa có explicit timeout/AbortController; request có thể treo lâu tùy network stack.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Observability: biết hệ thống nhanh hay chỉ 'có chạy'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Prometheus metrics được đo ở event, cache, feed và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292608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828800"/>
            <a:ext cx="2816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737360"/>
            <a:ext cx="27432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828800"/>
            <a:ext cx="2633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4572000" cy="530352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828800"/>
            <a:ext cx="4462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Câu hỏi trả lời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67712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354580"/>
            <a:ext cx="2816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recommendation_events_total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267712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354580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event_type,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267712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354580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Có nhận đúng hành vi?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798063"/>
            <a:ext cx="292608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884932"/>
            <a:ext cx="2816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cache_hits_total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2798063"/>
            <a:ext cx="274320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6744" y="2884932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feed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798063"/>
            <a:ext cx="457200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2884932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Cache hiệu quả bao nhiêu?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328415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415284"/>
            <a:ext cx="2816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generation_latency_ms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3328415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3415284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feed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328415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3415284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P95 feed nào chậm?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58768"/>
            <a:ext cx="292608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3945635"/>
            <a:ext cx="2816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ai_latency_ms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3858768"/>
            <a:ext cx="274320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66744" y="3945635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operation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858768"/>
            <a:ext cx="4572000" cy="530352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3945635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Train/embed/recommend chậm?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389120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4475988"/>
            <a:ext cx="28163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ai_fallback_total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89120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66744" y="4475988"/>
            <a:ext cx="26334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feed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389120"/>
            <a:ext cx="4572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4475988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121C2D"/>
                </a:solidFill>
                <a:latin typeface="Aptos"/>
              </a:rPr>
              <a:t>AI hỏng hoặc suy giảm?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7400" y="5257800"/>
            <a:ext cx="8138160" cy="310896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93976" y="5326380"/>
            <a:ext cx="806500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E8832A"/>
                </a:solidFill>
                <a:latin typeface="Aptos"/>
              </a:rPr>
              <a:t>Nên bổ sung: candidate count/source, zero-result rate, score distribution, CTR/CVR theo model version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Đánh giá chất lượng: offline metric chưa đủ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Recommendation phải đo cả relevance, diversity và tác động kinh doanh.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4008" cy="3566160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Offline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67128"/>
            <a:ext cx="3063240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Recall@K: item mua có nằm trong candidate?
NDCG@K: item đúng đứng cao?
MRR: vị trí item đầu tiên đúng.
Coverage: % catalog được expose.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64008" cy="356616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Online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67128"/>
            <a:ext cx="3063240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Impression → click CTR.
Click → add-to-cart.
Recommendation-assisted purchase.
Revenue/session và conversion uplift.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64008" cy="3566160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67128"/>
            <a:ext cx="3063240" cy="2999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Latency P95/P99.
Out-of-stock exposure.
Diversity category/brand.
Popularity concentration và novelty.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A/B testing đúng cách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Schema RecommendationExperiment đã có, nhưng serving chưa gắn assignment/model variant.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998878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Stable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user/session → 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40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0710" y="1737360"/>
            <a:ext cx="1998878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75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Assign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72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control vs 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7876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4180" y="1737360"/>
            <a:ext cx="1998878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5620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8228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Log impression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experiment+variant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134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7651" y="1737360"/>
            <a:ext cx="1998878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909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169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Track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566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click/cart/buy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4817" y="216712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1121" y="1737360"/>
            <a:ext cx="1998878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2561" y="184708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5169" y="1847088"/>
            <a:ext cx="152339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9137" y="2221991"/>
            <a:ext cx="1742846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uplift + significance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429000"/>
            <a:ext cx="5029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429000"/>
            <a:ext cx="64008" cy="1874519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566160"/>
            <a:ext cx="4709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904487"/>
            <a:ext cx="4709160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Heuristic hiện tại: unnormalized merge + 0.75/0.25 AI.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429000"/>
            <a:ext cx="5029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429000"/>
            <a:ext cx="64008" cy="1874519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566160"/>
            <a:ext cx="4709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Treatment đề xuất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04487"/>
            <a:ext cx="4709160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21C2D"/>
                </a:solidFill>
                <a:latin typeface="Aptos"/>
              </a:rPr>
              <a:t>Normalize per-source → weighted RRF/learning-to-rank; diversity reranker; stock guardrail.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Technical debt nhìn thẳng vào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Những điểm cần nói rõ để bài bảo vệ có chiều sâu và trung thực.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4008" cy="1298448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Score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nguồn dùng thang điểm khác nhau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645920"/>
            <a:ext cx="64008" cy="1298448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8308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Body profile unused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21408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được gửi nhưng AI không dùng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64008" cy="1298448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User embeddings unused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21408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schema có, serving chưa đọc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645920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45920"/>
            <a:ext cx="64008" cy="1298448"/>
          </a:xfrm>
          <a:prstGeom prst="rect">
            <a:avLst/>
          </a:prstGeom>
          <a:solidFill>
            <a:srgbClr val="D3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78308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3455B"/>
                </a:solidFill>
                <a:latin typeface="Aptos"/>
              </a:rPr>
              <a:t>Product status/stock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21408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card filter chưa đủ guardrail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186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218688"/>
            <a:ext cx="64008" cy="1298448"/>
          </a:xfrm>
          <a:prstGeom prst="rect">
            <a:avLst/>
          </a:prstGeom>
          <a:solidFill>
            <a:srgbClr val="E8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35584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Hash 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694176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Python hash đổi theo process seed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2186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3218688"/>
            <a:ext cx="64008" cy="1298448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35584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IVFFlat 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694176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chưa thấy ANALYZE/lists/probes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2186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218688"/>
            <a:ext cx="64008" cy="12984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35584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Own signal conflict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94176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recent items bị exclusion loại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218688"/>
            <a:ext cx="26060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218688"/>
            <a:ext cx="64008" cy="1298448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335584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No query embedding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694176"/>
            <a:ext cx="228600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0">
                <a:solidFill>
                  <a:srgbClr val="121C2D"/>
                </a:solidFill>
                <a:latin typeface="Aptos"/>
              </a:rPr>
              <a:t>search chỉ LIKE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5074920"/>
            <a:ext cx="8138160" cy="612648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5285232"/>
            <a:ext cx="7680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23975D"/>
                </a:solidFill>
                <a:latin typeface="Aptos"/>
              </a:rPr>
              <a:t>Điểm mạnh: hệ thống có đường tiến hóa rõ—không cần phá kiến trúc để thay heuristic bằng model tốt hơn.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Roadmap kỹ thuật: từ heuristic hybrid đến ranking học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Ưu tiên theo impact/risk, không chạy theo độ phức tạp mô hình.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2035454" cy="123444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01368"/>
            <a:ext cx="155996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P0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76272"/>
            <a:ext cx="177942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ACTIVE + stock &gt;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9542" y="212140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5846" y="1691640"/>
            <a:ext cx="2035454" cy="1234440"/>
          </a:xfrm>
          <a:prstGeom prst="roundRect">
            <a:avLst/>
          </a:prstGeom>
          <a:solidFill>
            <a:srgbClr val="E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7286" y="180136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9894" y="1801368"/>
            <a:ext cx="155996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P1 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3862" y="2176272"/>
            <a:ext cx="177942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per-source percentile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9588" y="212140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5892" y="1691640"/>
            <a:ext cx="2035454" cy="1234440"/>
          </a:xfrm>
          <a:prstGeom prst="roundRect">
            <a:avLst/>
          </a:prstGeom>
          <a:solidFill>
            <a:srgbClr val="E7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7332" y="180136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9940" y="1801368"/>
            <a:ext cx="155996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P2 RRF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908" y="2176272"/>
            <a:ext cx="177942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rank fusion ổn định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9635" y="212140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5939" y="1691640"/>
            <a:ext cx="2035454" cy="1234440"/>
          </a:xfrm>
          <a:prstGeom prst="roundRect">
            <a:avLst/>
          </a:prstGeom>
          <a:solidFill>
            <a:srgbClr val="FF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7379" y="180136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8832A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9987" y="1801368"/>
            <a:ext cx="155996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P3 Diversity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176272"/>
            <a:ext cx="177942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MMR/category 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9681" y="2121408"/>
            <a:ext cx="1280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52607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5985" y="1691640"/>
            <a:ext cx="2035454" cy="123444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7425" y="1801368"/>
            <a:ext cx="2560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0033" y="1801368"/>
            <a:ext cx="155996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21C2D"/>
                </a:solidFill>
                <a:latin typeface="Aptos"/>
              </a:rPr>
              <a:t>P4 LTR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4001" y="2176272"/>
            <a:ext cx="177942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69" b="0">
                <a:solidFill>
                  <a:srgbClr val="526075"/>
                </a:solidFill>
                <a:latin typeface="Aptos"/>
              </a:rPr>
              <a:t>learn weights from 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337560"/>
            <a:ext cx="1828800" cy="47548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429000"/>
            <a:ext cx="17190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Giai đoạn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337560"/>
            <a:ext cx="4572000" cy="47548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98064" y="3429000"/>
            <a:ext cx="44622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Thay đổi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337560"/>
            <a:ext cx="3840480" cy="475488"/>
          </a:xfrm>
          <a:prstGeom prst="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3429000"/>
            <a:ext cx="37307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Kết quả mong đợi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813048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3899915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1–2 tuần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813048"/>
            <a:ext cx="4572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98064" y="3899915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metrics + guardrail + SCAN cache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813048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0064" y="3899915"/>
            <a:ext cx="3730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an toàn production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288536"/>
            <a:ext cx="182880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4375403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3–4 tuần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288536"/>
            <a:ext cx="457200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98064" y="4375403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normalize + calibrated weights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4288536"/>
            <a:ext cx="384048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0064" y="4375403"/>
            <a:ext cx="3730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ranking ổn định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4764024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" y="4850892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5–8 tuần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764024"/>
            <a:ext cx="45720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98064" y="4850892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A/B + MMR + query embedding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4764024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4850892"/>
            <a:ext cx="3730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CTR/diversity tăng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5239512"/>
            <a:ext cx="182880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5326380"/>
            <a:ext cx="17190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&gt;8 tuần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239512"/>
            <a:ext cx="457200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98064" y="5326380"/>
            <a:ext cx="446227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LightGBM/XGBoost LTR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5239512"/>
            <a:ext cx="3840480" cy="475488"/>
          </a:xfrm>
          <a:prstGeom prst="rect">
            <a:avLst/>
          </a:prstGeom>
          <a:solidFill>
            <a:srgbClr val="E8F1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0064" y="5326380"/>
            <a:ext cx="37307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80" b="0">
                <a:solidFill>
                  <a:srgbClr val="121C2D"/>
                </a:solidFill>
                <a:latin typeface="Aptos"/>
              </a:rPr>
              <a:t>trọng số học từ outcome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Kịch bản demo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Chứng minh từng tầng bằng dữ liệu thay vì chỉ nhìn carousel.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14500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82496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Track VIEW/ADD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82496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kiểm tra recommendation_events + Redis hot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40864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09444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Refresh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4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kiểm tra co-occurrence + product 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35808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04388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072384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Query pgvector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72384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so cosine của 3 candidate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30752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799332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6732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Call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76732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đọc score/reason/source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25696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94276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62272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Trigger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62272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request lần 2 và metric hit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20640"/>
            <a:ext cx="384048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89220"/>
            <a:ext cx="31089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>
                <a:solidFill>
                  <a:srgbClr val="2067E2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57216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21C2D"/>
                </a:solidFill>
                <a:latin typeface="Aptos"/>
              </a:rPr>
              <a:t>New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157216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cache invalidated, ranking đổi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5897880"/>
            <a:ext cx="7772400" cy="384048"/>
          </a:xfrm>
          <a:prstGeom prst="roundRect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5998464"/>
            <a:ext cx="7315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Demo tốt nhất kết thúc bằng việc giải thích vì sao rank thay đổi sau một ADD_TO_CART.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6217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1">
                <a:solidFill>
                  <a:srgbClr val="2067E2"/>
                </a:solidFill>
                <a:latin typeface="Aptos"/>
              </a:rPr>
              <a:t>AI RECOMMENDATION • 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121C2D"/>
                </a:solidFill>
                <a:latin typeface="Aptos"/>
              </a:rPr>
              <a:t>Kết luận: recommendation là một chuỗi quyết định có thể kiểm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526075"/>
                </a:solidFill>
                <a:latin typeface="Aptos"/>
              </a:rPr>
              <a:t>Từ product text và hành vi đến candidate cuối cùng đều có dữ liệu, công thức và fallback.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41148"/>
          </a:xfrm>
          <a:prstGeom prst="rect">
            <a:avLst/>
          </a:prstGeom>
          <a:solidFill>
            <a:srgbClr val="206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26075"/>
                </a:solidFill>
                <a:latin typeface="Aptos"/>
              </a:rPr>
              <a:t>Aura Fashion Marketplace • Recommendation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50" b="1">
                <a:solidFill>
                  <a:srgbClr val="526075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3337560"/>
          </a:xfrm>
          <a:prstGeom prst="roundRect">
            <a:avLst/>
          </a:prstGeom>
          <a:solidFill>
            <a:srgbClr val="E2F7F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3337560"/>
          </a:xfrm>
          <a:prstGeom prst="rect">
            <a:avLst/>
          </a:prstGeom>
          <a:solidFill>
            <a:srgbClr val="119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199AD"/>
                </a:solidFill>
                <a:latin typeface="Aptos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3063240" cy="2770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Embedding 384D + cosine/pgvector mở rộng semantic recall; co-occurrence và category cứu cold-start/AI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3337560"/>
          </a:xfrm>
          <a:prstGeom prst="roundRect">
            <a:avLst/>
          </a:prstGeom>
          <a:solidFill>
            <a:srgbClr val="F1EB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64008" cy="3337560"/>
          </a:xfrm>
          <a:prstGeom prst="rect">
            <a:avLst/>
          </a:prstGeom>
          <a:solidFill>
            <a:srgbClr val="71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714BBE"/>
                </a:solidFill>
                <a:latin typeface="Aptos"/>
              </a:rPr>
              <a:t>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12848"/>
            <a:ext cx="3063240" cy="2770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Hybrid 0.75/0.25 tạo AI score; Node merge max+20%, exclusion và fallback quyết định final rank.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3337560"/>
          </a:xfrm>
          <a:prstGeom prst="roundRect">
            <a:avLst/>
          </a:prstGeom>
          <a:solidFill>
            <a:srgbClr val="E7F7EE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64008" cy="3337560"/>
          </a:xfrm>
          <a:prstGeom prst="rect">
            <a:avLst/>
          </a:prstGeom>
          <a:solidFill>
            <a:srgbClr val="23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063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3975D"/>
                </a:solidFill>
                <a:latin typeface="Aptos"/>
              </a:rPr>
              <a:t>Learning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12848"/>
            <a:ext cx="3063240" cy="2770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21C2D"/>
                </a:solidFill>
                <a:latin typeface="Aptos"/>
              </a:rPr>
              <a:t>Event → RabbitMQ → MySQL/Redis → refresh artifacts → cache invalidation → recommendation mới.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067E2"/>
                </a:solidFill>
                <a:latin typeface="Aptos"/>
              </a:rPr>
              <a:t>Một sản phẩm đứng #1 vì nó có bằng chứng phù hợp nhất sau toàn bộ pipeline—not because an API happened to return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